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  <a:defRPr sz="2800" b="1">
                <a:solidFill>
                  <a:srgbClr val="4285F4"/>
                </a:solidFill>
              </a:defRPr>
            </a:pPr>
            <a:r>
              <a:t>Notebook+ Annotator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Aft>
                <a:spcPts val="1800"/>
              </a:spcAft>
              <a:defRPr sz="1400" b="1">
                <a:solidFill>
                  <a:srgbClr val="FBBC04"/>
                </a:solidFill>
              </a:defRPr>
            </a:pPr>
            <a:r>
              <a:t>Where NotebookLM Speaks, NotebookAnnotator Points.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4A853"/>
                </a:solidFill>
              </a:rPr>
              <a:t>Team Name: </a:t>
            </a:r>
            <a:r>
              <a:rPr sz="1100">
                <a:solidFill>
                  <a:srgbClr val="FFFFFF"/>
                </a:solidFill>
              </a:rPr>
              <a:t>Alevelai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4285F4"/>
                </a:solidFill>
              </a:rPr>
              <a:t>Team Leader: </a:t>
            </a:r>
            <a:r>
              <a:rPr sz="1100">
                <a:solidFill>
                  <a:srgbClr val="FFFFFF"/>
                </a:solidFill>
              </a:rPr>
              <a:t>Maleesha Piumal Kumarasinghe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4285F4"/>
                </a:solidFill>
              </a:rPr>
              <a:t>Team Member: </a:t>
            </a:r>
            <a:r>
              <a:rPr sz="1100">
                <a:solidFill>
                  <a:srgbClr val="FFFFFF"/>
                </a:solidFill>
              </a:rPr>
              <a:t>Himath Nimpura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4285F4"/>
                </a:solidFill>
              </a:rPr>
              <a:t>Challenge Track: </a:t>
            </a:r>
            <a:r>
              <a:rPr sz="1100">
                <a:solidFill>
                  <a:srgbClr val="FFFFFF"/>
                </a:solidFill>
              </a:rPr>
              <a:t>Media, Content &amp; Digital Experiences (Immersive Education)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4285F4"/>
                </a:solidFill>
              </a:rPr>
              <a:t>Problem Statement: </a:t>
            </a:r>
            <a:r>
              <a:rPr sz="1100">
                <a:solidFill>
                  <a:srgbClr val="FFFFFF"/>
                </a:solidFill>
              </a:rPr>
              <a:t>STEM learners listening to long lecture audio lose visual sync in dense multi-page PDFs containing complex formulas. Video generators hallucinate symbols and create 1.5GB files. Notebook+ Annotator provides millisecond-accurate visual grounding and word-timed equation sub-term focus on immutable PDFs without generating fake pixels.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CORE CONCEPT &amp; VALUE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1280160"/>
            <a:ext cx="393192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EA4335"/>
                </a:solidFill>
              </a:defRPr>
            </a:pPr>
            <a:r>
              <a:t>The Audio-Visual Disconnect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The Pain Point: </a:t>
            </a:r>
            <a:r>
              <a:t>Engineering students listening to technical audio overviews (e.g. NotebookLM) get lost in 60-page PDFs.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The Illusion: </a:t>
            </a:r>
            <a:r>
              <a:t>Students are forced to pause audio and frantically scroll to match spoken formulas to slide pages.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Generative Video Failure: </a:t>
            </a:r>
            <a:r>
              <a:t>Video generators (Sora, HeyGen) re-render full video frames, hallucinating math symbols and producing 1.5 GB files.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663440" y="1280160"/>
            <a:ext cx="393192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4A853"/>
                </a:solidFill>
              </a:defRPr>
            </a:pPr>
            <a:r>
              <a:t>The Notebook+ Solution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Immutable PDF Vector Canvas: </a:t>
            </a:r>
            <a:r>
              <a:t>Original slides remain stationary and pixel-perfect—no blurry renders or nauseating zoom.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Synchronized Visual Highlights: </a:t>
            </a:r>
            <a:r>
              <a:t>Advances to the right slide and underlines the active paragraph with millisecond accuracy.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Word-Timed Equation Focus: </a:t>
            </a:r>
            <a:r>
              <a:t>Focus box moves term-by-term across complex formulas (e.g., ∂E/∂w during backpropagation).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DIFFERENTIATION &amp; USP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" y="1280160"/>
            <a:ext cx="265176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4285F4"/>
                </a:solidFill>
              </a:defRPr>
            </a:pPr>
            <a:r>
              <a:t>How Is It Different?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vs NotebookLM: </a:t>
            </a:r>
            <a:r>
              <a:t>NotebookLM provides great audio but 0% visual sync.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vs Video AI: </a:t>
            </a:r>
            <a:r>
              <a:t>Generative video re-renders pixels and hallucinates formulas; we overlay vector bounding boxes.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100x Efficiency: </a:t>
            </a:r>
            <a:r>
              <a:t>Renders a 19-min lecture in 15 MB MP4 vs 1.5 GB video.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91840" y="1280160"/>
            <a:ext cx="265176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FBBC04"/>
                </a:solidFill>
              </a:defRPr>
            </a:pPr>
            <a:r>
              <a:t>How It Solves The Problem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Monotonic Flow: </a:t>
            </a:r>
            <a:r>
              <a:t>Eliminates slide navigation freezes across 60+ slides.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Sub-Term Math Tracking: </a:t>
            </a:r>
            <a:r>
              <a:t>Parses LaTeX and OCR coordinates to track sub-terms as spoken.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Human-in-the-Loop: </a:t>
            </a:r>
            <a:r>
              <a:t>One-click correction drawer preserves manual edits across rebuilds.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26480" y="1280160"/>
            <a:ext cx="265176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4A853"/>
                </a:solidFill>
              </a:defRPr>
            </a:pPr>
            <a:r>
              <a:t>Unique Selling Point (USP)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Gemini 3 Flash: </a:t>
            </a:r>
            <a:r>
              <a:t>Disambiguates ambiguous slide candidates where pure keywords fail.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Deterministic Guardrail: </a:t>
            </a:r>
            <a:r>
              <a:t>Rejects hallucinated bounding boxes and abstains on tangents.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Zero Cloud Waste: </a:t>
            </a:r>
            <a:r>
              <a:t>Runs on Cloud Run with scale-to-zero serverless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CORE FEATURE MATRIX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7200" y="1280160"/>
            <a:ext cx="393192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4285F4"/>
                </a:solidFill>
              </a:defRPr>
            </a:pPr>
            <a:r>
              <a:t>Visual Grounding &amp; AI Features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Stationary PDF Grounding: </a:t>
            </a:r>
            <a:r>
              <a:t>Original vector PDF remains immutable; slides change automatically as spoken.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Word-Timed Equation Focus: </a:t>
            </a:r>
            <a:r>
              <a:t>Tracks active mathematical sub-terms (e.g., partial derivatives, integrals) in real time.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Gemini 3 Flash Disambiguation: </a:t>
            </a:r>
            <a:r>
              <a:t>Resolves borderline slide candidates (0.50 ≤ conf &lt; 0.82) with transcript context.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663440" y="1280160"/>
            <a:ext cx="393192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FBBC04"/>
                </a:solidFill>
              </a:defRPr>
            </a:pPr>
            <a:r>
              <a:t>Studio, Review &amp; Export Features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Non-Blocking Studio: </a:t>
            </a:r>
            <a:r>
              <a:t>Instant modal dismissal; live background processing card in Research Notebooks sidebar.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Abstention &amp; Review Drawer: </a:t>
            </a:r>
            <a:r>
              <a:t>Transparently holds page on uncertain passages rather than inventing misleading marks.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Ultra-Compact MP4 &amp; JSON: </a:t>
            </a:r>
            <a:r>
              <a:t>Exports deterministic 720p MP4 (15.9 MB for 19 mins) and editable JSON timelines.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END-TO-END PIPELINE</a:t>
            </a:r>
          </a:p>
        </p:txBody>
      </p:sp>
      <p:pic>
        <p:nvPicPr>
          <p:cNvPr id="97" name="Picture 96" descr="process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280160"/>
            <a:ext cx="8046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UI / UX ARCHITECTURE</a:t>
            </a:r>
          </a:p>
        </p:txBody>
      </p:sp>
      <p:pic>
        <p:nvPicPr>
          <p:cNvPr id="105" name="Picture 104" descr="media_1792325395030_f1602a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280160"/>
            <a:ext cx="8046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GOOGLE CLOUD &amp; AI ARCHITECTURE</a:t>
            </a:r>
          </a:p>
        </p:txBody>
      </p:sp>
      <p:pic>
        <p:nvPicPr>
          <p:cNvPr id="113" name="Picture 112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280160"/>
            <a:ext cx="8046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TECH STACK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57200" y="1280160"/>
            <a:ext cx="393192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4285F4"/>
                </a:solidFill>
              </a:defRPr>
            </a:pPr>
            <a:r>
              <a:t>Google Cloud &amp; Generative AI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Google Cloud Run: </a:t>
            </a:r>
            <a:r>
              <a:t>Serverless container runtime auto-scaling to zero when idle.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Google Gemini 3 Flash: </a:t>
            </a:r>
            <a:r>
              <a:t>State-of-the-art multimodal reasoning for candidate disambiguation.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Google Secret Manager: </a:t>
            </a:r>
            <a:r>
              <a:t>Enterprise-grade isolated credential storage (zero secrets in repo).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GeminiBudget Guardrail: </a:t>
            </a:r>
            <a:r>
              <a:t>Server-side token &amp; request capping with disk persistence.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663440" y="1280160"/>
            <a:ext cx="393192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4A853"/>
                </a:solidFill>
              </a:defRPr>
            </a:pPr>
            <a:r>
              <a:t>Local Geometry, OCR &amp; Runtime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FastEmbed ONNX: </a:t>
            </a:r>
            <a:r>
              <a:t>Local bge-small-en-v1.5 embedding engine for semantic slide mapping.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RapidOCR &amp; pdfplumber: </a:t>
            </a:r>
            <a:r>
              <a:t>Character-level coordinate extraction &amp; LaTeX formula detection.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FastAPI &amp; Python 3.12: </a:t>
            </a:r>
            <a:r>
              <a:t>High-throughput asynchronous backend with streaming stage callbacks.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FFmpeg Engine: </a:t>
            </a:r>
            <a:r>
              <a:t>Deterministic H.264/AAC MP4 encoding directly from event timeline.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COST &amp; FEASIBILITY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57200" y="1280160"/>
            <a:ext cx="393192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4A853"/>
                </a:solidFill>
              </a:defRPr>
            </a:pPr>
            <a:r>
              <a:t>Cost Efficiency Comparison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Notebook+ Annotator: </a:t>
            </a:r>
            <a:r>
              <a:t>$0.00 prototype cost · ~$0.004 per lecture · Scaled: ~$41.50/mo for 10,000 active students.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Generative Video (HeyGen/Sora): </a:t>
            </a:r>
            <a:r>
              <a:t>$2.00 – $5.00 per lecture · Scaled: $20,000+/mo (unsustainable for schools).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Bandwidth Savings: </a:t>
            </a:r>
            <a:r>
              <a:t>15 MB MP4 vs 1.5 GB Video = 99% bandwidth savings across university networks.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663440" y="1280160"/>
            <a:ext cx="393192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FBBC04"/>
                </a:solidFill>
              </a:defRPr>
            </a:pPr>
            <a:r>
              <a:t>Cloud Run Resource Profile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Instance Profile: </a:t>
            </a:r>
            <a:r>
              <a:t>2 vCPU, 2 GB RAM, scale-to-zero concurrency.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Cold Start Defense: </a:t>
            </a:r>
            <a:r>
              <a:t>FastEmbed ONNX runtime loads in &lt;800ms; pre-warmed for evaluation.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Token Optimization: </a:t>
            </a:r>
            <a:r>
              <a:t>95% of grounding handled deterministically; Gemini called only on borderline ambiguity.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LIVE PROTOTYPE SNAPSHOTS</a:t>
            </a:r>
          </a:p>
        </p:txBody>
      </p:sp>
      <p:pic>
        <p:nvPicPr>
          <p:cNvPr id="137" name="Picture 136" descr="media_1792324655003_f2a7b8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80160"/>
            <a:ext cx="3931920" cy="3200400"/>
          </a:xfrm>
          <a:prstGeom prst="rect">
            <a:avLst/>
          </a:prstGeom>
        </p:spPr>
      </p:pic>
      <p:pic>
        <p:nvPicPr>
          <p:cNvPr id="138" name="Picture 137" descr="media_1792325395030_f1602a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280160"/>
            <a:ext cx="39319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EMPIRICAL BENCHMARKS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57200" y="1280160"/>
            <a:ext cx="393192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4285F4"/>
                </a:solidFill>
              </a:defRPr>
            </a:pPr>
            <a:r>
              <a:t>Rigorous Automated Testing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Unit Tests: </a:t>
            </a:r>
            <a:r>
              <a:t>22 / 22 Automated Tests Passing (100% test coverage).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Page Landmark Accuracy: </a:t>
            </a:r>
            <a:r>
              <a:t>60 / 64 hand-labeled landmarks verified across real engineering lectures (93.75%).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Equation Cue Precision: </a:t>
            </a:r>
            <a:r>
              <a:t>100% precision on mathematical sub-term cues (e.g. partial derivatives).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Hallucination Rejection: </a:t>
            </a:r>
            <a:r>
              <a:t>100% rejection rate on hallucinated block IDs in test suite.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663440" y="1280160"/>
            <a:ext cx="393192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4A853"/>
                </a:solidFill>
              </a:defRPr>
            </a:pPr>
            <a:r>
              <a:t>System Performance Metrics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Video Export Size: </a:t>
            </a:r>
            <a:r>
              <a:t>15.9 MB for complete 19:02 lecture (H.264 / AAC 720p).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Export Render Time: </a:t>
            </a:r>
            <a:r>
              <a:t>&lt; 4 minutes on standard commodity CPU.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UI Latency: </a:t>
            </a:r>
            <a:r>
              <a:t>&lt; 50ms seek latency on stationary PDF canvas.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Background Poll Rate: </a:t>
            </a:r>
            <a:r>
              <a:t>1.8s live stage stream updates in Research Notebooks sidebar.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ROADMAP &amp; EXTENSIBILITY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57200" y="1280160"/>
            <a:ext cx="393192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FBBC04"/>
                </a:solidFill>
              </a:defRPr>
            </a:pPr>
            <a:r>
              <a:t>Educational Impact &amp; Longevity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Classroom Accessibility: </a:t>
            </a:r>
            <a:r>
              <a:t>Enables neurodivergent learners and non-native speakers to follow spoken lectures visually.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Institutional Scale: </a:t>
            </a:r>
            <a:r>
              <a:t>Deployable across university LMS platforms (Canvas, Moodle, Google Classroom).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Self-Paced Review: </a:t>
            </a:r>
            <a:r>
              <a:t>Students can search transcripts to jump immediately to specific equation terms.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663440" y="1280160"/>
            <a:ext cx="393192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4285F4"/>
                </a:solidFill>
              </a:defRPr>
            </a:pPr>
            <a:r>
              <a:t>Planned Extensions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Multilingual Grounding: </a:t>
            </a:r>
            <a:r>
              <a:t>Leverage Gemini 3 Flash multimodal audio for Spanish, Hindi, and Mandarin lectures.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Active-Recall Checkpoints: </a:t>
            </a:r>
            <a:r>
              <a:t>Auto-generate formative quiz questions anchored to highlighted formulas.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Collaborative Whiteboards: </a:t>
            </a:r>
            <a:r>
              <a:t>Real-time student annotations and peer commentary overlaid on PDF slides.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SUBMISSION DELIVERABLES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57200" y="1280160"/>
            <a:ext cx="8138160" cy="32918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34A853"/>
                </a:solidFill>
              </a:defRPr>
            </a:pPr>
            <a:r>
              <a:t>Project Access &amp; Deliverables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GitHub Public Repository: </a:t>
            </a:r>
            <a:r>
              <a:t>https://github.com/Maleesha-Kumarasinghe/Audio-to-PDF (Clean code, zero secrets, complete evaluator quick-start guide).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Demo Video Link (3-4 Minutes): </a:t>
            </a:r>
            <a:r>
              <a:t>https://youtu.be/your-demo-video (Comprehensive walkthrough: problem, grounding, equation focus, review drawer, MP4 export).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Live Deployed Cloud Run Prototype: </a:t>
            </a:r>
            <a:r>
              <a:t>https://notebook-annotator-uc.a.run.app (Immediate one-click evaluator access, zero login friction, pre-seeded flagship demo).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Evaluation Quick-Start: </a:t>
            </a:r>
            <a:r>
              <a:t>Open flagship lesson 'L05 - Optimization for Neural Networks' and click any of the 1-click bookmarks (e.g. 18:07 Sub-Term: ∂E/∂w).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365760" y="868680"/>
            <a:ext cx="3291840" cy="256032"/>
          </a:xfrm>
          <a:prstGeom prst="roundRect">
            <a:avLst/>
          </a:prstGeom>
          <a:solidFill>
            <a:srgbClr val="1E2430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4285F4"/>
                </a:solidFill>
              </a:defRPr>
            </a:pPr>
            <a:r>
              <a:t>★ THANK YOU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371600" y="1645920"/>
            <a:ext cx="6217920" cy="2377440"/>
          </a:xfrm>
          <a:prstGeom prst="roundRect">
            <a:avLst/>
          </a:prstGeom>
          <a:solidFill>
            <a:srgbClr val="181A1F"/>
          </a:solidFill>
          <a:ln w="12700">
            <a:solidFill>
              <a:srgbClr val="2D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4285F4"/>
                </a:solidFill>
              </a:defRPr>
            </a:pPr>
            <a:r>
              <a:t>Thank You · AI Builder Cup 2026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Team Name: </a:t>
            </a:r>
            <a:r>
              <a:t>Alevelai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Team Leader: </a:t>
            </a:r>
            <a:r>
              <a:t>Maleesha Piumal Kumarasinghe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Team Member: </a:t>
            </a:r>
            <a:r>
              <a:t>Himath Nimpura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Contact &amp; Support: </a:t>
            </a:r>
            <a:r>
              <a:t>maleeshakumarasinghe@gmail.com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rPr b="1">
                <a:solidFill>
                  <a:srgbClr val="FBBC04"/>
                </a:solidFill>
              </a:rPr>
              <a:t>Motto: </a:t>
            </a:r>
            <a:r>
              <a:t>Where NotebookLM Speaks, NotebookAnnotator 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